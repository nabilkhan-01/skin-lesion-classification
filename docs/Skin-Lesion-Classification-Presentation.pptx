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4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"/>
          <c:y val="0.1"/>
          <c:w val="0.78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</c:v>
                </c:pt>
              </c:strCache>
            </c:strRef>
          </c:tx>
          <c:spPr>
            <a:solidFill>
              <a:srgbClr val="16A6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Weighted F1</c:v>
                </c:pt>
                <c:pt idx="2">
                  <c:v>Macro 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70.45</c:v>
                </c:pt>
                <c:pt idx="1">
                  <c:v>69.650000000000006</c:v>
                </c:pt>
                <c:pt idx="2">
                  <c:v>41.59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E1-4B25-AB9E-95356D756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EfficientNetB0</c:v>
                </c:pt>
              </c:strCache>
            </c:strRef>
          </c:tx>
          <c:spPr>
            <a:solidFill>
              <a:srgbClr val="5B6C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Weighted F1</c:v>
                </c:pt>
                <c:pt idx="2">
                  <c:v>Macro 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75.34</c:v>
                </c:pt>
                <c:pt idx="1">
                  <c:v>76.25</c:v>
                </c:pt>
                <c:pt idx="2">
                  <c:v>52.7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E1-4B25-AB9E-95356D7568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7"/>
          <c:y val="0.1"/>
          <c:w val="0.75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6A6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akiec</c:v>
                </c:pt>
                <c:pt idx="1">
                  <c:v>bcc</c:v>
                </c:pt>
                <c:pt idx="2">
                  <c:v>bkl</c:v>
                </c:pt>
                <c:pt idx="3">
                  <c:v>df</c:v>
                </c:pt>
                <c:pt idx="4">
                  <c:v>mel</c:v>
                </c:pt>
                <c:pt idx="5">
                  <c:v>nv</c:v>
                </c:pt>
                <c:pt idx="6">
                  <c:v>scc</c:v>
                </c:pt>
                <c:pt idx="7">
                  <c:v>vasc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</c:v>
                </c:pt>
                <c:pt idx="1">
                  <c:v>56.999999999999993</c:v>
                </c:pt>
                <c:pt idx="2">
                  <c:v>56.000000000000007</c:v>
                </c:pt>
                <c:pt idx="3">
                  <c:v>42</c:v>
                </c:pt>
                <c:pt idx="4">
                  <c:v>55.000000000000007</c:v>
                </c:pt>
                <c:pt idx="5">
                  <c:v>88</c:v>
                </c:pt>
                <c:pt idx="6">
                  <c:v>21</c:v>
                </c:pt>
                <c:pt idx="7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B6-448C-81FF-1501C62766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Skin Lesion Classification Using CNNs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654710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/ Educational Use Only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83880" y="0"/>
            <a:ext cx="3977640" cy="3977640"/>
          </a:xfrm>
          <a:prstGeom prst="ellipse">
            <a:avLst/>
          </a:prstGeom>
          <a:solidFill>
            <a:srgbClr val="13204A">
              <a:alpha val="88000"/>
            </a:srgbClr>
          </a:solidFill>
          <a:ln w="12700">
            <a:solidFill>
              <a:srgbClr val="132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0" y="2971800"/>
            <a:ext cx="2834640" cy="2834640"/>
          </a:xfrm>
          <a:prstGeom prst="ellipse">
            <a:avLst/>
          </a:prstGeom>
          <a:solidFill>
            <a:srgbClr val="0D5660">
              <a:alpha val="80000"/>
            </a:srgbClr>
          </a:solidFill>
          <a:ln w="12700">
            <a:solidFill>
              <a:srgbClr val="0D56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0" y="4572000"/>
            <a:ext cx="1051560" cy="105156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078992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SKIN LESION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8D9DE"/>
                </a:solidFill>
              </a:rPr>
              <a:t>Using Convolutional Neural Networks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3182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4F0"/>
                </a:solidFill>
              </a:rPr>
              <a:t>EfficientNetB0 • HAM10000 / ISIC • Grad-CAM • Streamlit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712464"/>
            <a:ext cx="5943600" cy="0"/>
          </a:xfrm>
          <a:prstGeom prst="line">
            <a:avLst/>
          </a:prstGeom>
          <a:noFill/>
          <a:ln w="3175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4165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5166360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18303D"/>
          </a:solidFill>
          <a:ln w="12700">
            <a:solidFill>
              <a:srgbClr val="183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52303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ECEF"/>
                </a:solidFill>
              </a:rPr>
              <a:t>ACADEMIC PROJECT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94192" y="6144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DE4F0"/>
                </a:solidFill>
              </a:rPr>
              <a:t>Research / Educational Use Only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Why automated dermoscopic image classification is a useful computer-vision problem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MOTIVATION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1572768"/>
            <a:ext cx="653796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883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020"/>
                </a:solidFill>
              </a:rPr>
              <a:t>The challenge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41A2B"/>
                </a:solidFill>
              </a:rPr>
              <a:t>Dermoscopic images show substantial variation in lesion appearance, scale, lighting and background.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41A2B"/>
                </a:solidFill>
              </a:rPr>
              <a:t>Different lesion categories can have visually similar patterns, making automated image classification challenging.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34930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41A2B"/>
                </a:solidFill>
              </a:rPr>
              <a:t>Class imbalance is significant: some categories have thousands of images while others have only a few hundred.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404164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41A2B"/>
                </a:solidFill>
              </a:rPr>
              <a:t>A deep-learning model can learn visual representations directly from images and produce a repeatable classification output.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0" y="1572768"/>
            <a:ext cx="4343400" cy="4343400"/>
          </a:xfrm>
          <a:prstGeom prst="roundRect">
            <a:avLst>
              <a:gd name="adj" fmla="val 1263"/>
            </a:avLst>
          </a:prstGeom>
          <a:solidFill>
            <a:srgbClr val="F0F6FA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44384" y="18836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020"/>
                </a:solidFill>
              </a:rPr>
              <a:t>Project goal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44384" y="2395728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1A2B"/>
                </a:solidFill>
              </a:rPr>
              <a:t>Build and evaluate a CNN-based system that classifies dermoscopic images into eight predefined lesion categories.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44384" y="3977640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DDF4F6"/>
          </a:solidFill>
          <a:ln w="12700">
            <a:solidFill>
              <a:srgbClr val="DD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90104" y="40416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8 classes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97112" y="397764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9ECFF"/>
          </a:solidFill>
          <a:ln w="12700">
            <a:solidFill>
              <a:srgbClr val="E9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42832" y="4041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Transfer learning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44384" y="4443984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F2ECFF"/>
          </a:solidFill>
          <a:ln w="12700">
            <a:solidFill>
              <a:srgbClr val="F2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90104" y="450799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5CFF"/>
                </a:solidFill>
              </a:rPr>
              <a:t>Explainability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444398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F7F0E3"/>
          </a:solidFill>
          <a:ln w="12700">
            <a:solidFill>
              <a:srgbClr val="F7F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98280" y="450799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8A16"/>
                </a:solidFill>
              </a:rPr>
              <a:t>Web demo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44384" y="50749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E6B82"/>
                </a:solidFill>
              </a:rPr>
              <a:t>The system is a research / educational demonstration — not a clinical diagnostic tool.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What Does the Model Predict?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The “8 classes” are lesion categories — not eight levels of cancer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8-CLASS TASK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1572768"/>
            <a:ext cx="11128248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B82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2304288"/>
            <a:ext cx="1051560" cy="105156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2DA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87552" y="2505456"/>
            <a:ext cx="621792" cy="621792"/>
          </a:xfrm>
          <a:prstGeom prst="ellipse">
            <a:avLst/>
          </a:prstGeom>
          <a:solidFill>
            <a:srgbClr val="F5C49C"/>
          </a:solidFill>
          <a:ln w="12700">
            <a:solidFill>
              <a:srgbClr val="E7AD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2104" y="35478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2B"/>
                </a:solidFill>
              </a:rPr>
              <a:t>Dermoscopy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41A2B"/>
                </a:solidFill>
              </a:rPr>
              <a:t>image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1938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B82"/>
                </a:solidFill>
              </a:rPr>
              <a:t>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2304288"/>
            <a:ext cx="1901952" cy="1051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60904" y="2606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EfficientNetB0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88920" y="2916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4DA"/>
                </a:solidFill>
              </a:rPr>
              <a:t>fine-tuned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74520" y="2660904"/>
            <a:ext cx="457200" cy="420624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62272" y="2660904"/>
            <a:ext cx="457200" cy="420624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75504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6B82"/>
                </a:solidFill>
              </a:rPr>
              <a:t>Output classes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2331720"/>
            <a:ext cx="2606040" cy="54864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D9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76088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akiec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24728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Actinic keratosis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074152" y="2331720"/>
            <a:ext cx="2606040" cy="54864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E4D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83880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bcc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32520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Basal cell carcinoma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166360" y="3044952"/>
            <a:ext cx="2606040" cy="54864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D9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76088" y="31821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bkl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24728" y="3163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Pigmented benign keratosis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074152" y="3044952"/>
            <a:ext cx="2606040" cy="54864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E4D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83880" y="31821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df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32520" y="3163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Dermatofibroma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166360" y="3758184"/>
            <a:ext cx="2606040" cy="54864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D9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76088" y="38953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mel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24728" y="3877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Melanoma, NOS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074152" y="3758184"/>
            <a:ext cx="2606040" cy="54864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E4D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183880" y="38953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nv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32520" y="3877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Nevus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166360" y="4471416"/>
            <a:ext cx="2606040" cy="54864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D9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76088" y="46085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scc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24728" y="45902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Squamous cell carcinoma, NOS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074152" y="4471416"/>
            <a:ext cx="2606040" cy="54864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E4D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83880" y="46085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020"/>
                </a:solidFill>
              </a:rPr>
              <a:t>vasc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732520" y="45902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1A2B"/>
                </a:solidFill>
              </a:rPr>
              <a:t>Vascular lesion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868680" y="5468112"/>
            <a:ext cx="10241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5E6B82"/>
                </a:solidFill>
              </a:rPr>
              <a:t>Important: the eight categories contain both malignant and non-malignant lesion types. The system performs lesion classification, not a direct “cancer / no-cancer” decision.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Current ISIC HAM10000 collection used to construct the project’s eight-class task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DATASET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3152" cy="1024128"/>
          </a:xfrm>
          <a:prstGeom prst="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" y="1728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11,720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2167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Total images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55448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73152" cy="1024128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35808" y="17282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8,371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35808" y="2167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Train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21488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0" y="1554480"/>
            <a:ext cx="73152" cy="1024128"/>
          </a:xfrm>
          <a:prstGeom prst="rect">
            <a:avLst/>
          </a:prstGeom>
          <a:solidFill>
            <a:srgbClr val="7D5CFF"/>
          </a:solidFill>
          <a:ln w="12700">
            <a:solidFill>
              <a:srgbClr val="7D5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30368" y="1728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1,674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30368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1554480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60920" y="1554480"/>
            <a:ext cx="73152" cy="1024128"/>
          </a:xfrm>
          <a:prstGeom prst="rect">
            <a:avLst/>
          </a:prstGeom>
          <a:solidFill>
            <a:srgbClr val="D88A16"/>
          </a:solidFill>
          <a:ln w="12700">
            <a:solidFill>
              <a:srgbClr val="D88A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62088" y="17282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1,675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62088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Test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816352"/>
            <a:ext cx="11018520" cy="3172968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Class distribution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35295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nv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08760" y="353872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508760" y="3538728"/>
            <a:ext cx="6629400" cy="16459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66176" y="35112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7,737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6112" y="3803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bkl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08760" y="381304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508760" y="3813048"/>
            <a:ext cx="1146457" cy="164592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66176" y="3785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1,338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6112" y="4078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mel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508760" y="408736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508760" y="4087368"/>
            <a:ext cx="1118181" cy="164592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66176" y="40599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1,305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bcc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08760" y="436168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508760" y="4361688"/>
            <a:ext cx="532957" cy="164592"/>
          </a:xfrm>
          <a:prstGeom prst="round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66176" y="43342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622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6112" y="46268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scc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508760" y="463600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508760" y="4636008"/>
            <a:ext cx="196217" cy="164592"/>
          </a:xfrm>
          <a:prstGeom prst="round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266176" y="46085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229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96112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vasc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08760" y="491032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508760" y="4910328"/>
            <a:ext cx="154232" cy="164592"/>
          </a:xfrm>
          <a:prstGeom prst="round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66176" y="48828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180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96112" y="51755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df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508760" y="518464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508760" y="5184648"/>
            <a:ext cx="137095" cy="164592"/>
          </a:xfrm>
          <a:prstGeom prst="round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266176" y="5157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160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96112" y="54498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A2B"/>
                </a:solidFill>
              </a:rPr>
              <a:t>akiec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508760" y="5458968"/>
            <a:ext cx="6629400" cy="164592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508760" y="5458968"/>
            <a:ext cx="127670" cy="164592"/>
          </a:xfrm>
          <a:prstGeom prst="round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266176" y="54315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2"/>
                </a:solidFill>
              </a:rPr>
              <a:t>149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125712" y="32552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Source: official ISIC Archive HAM10000 collection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125712" y="37307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6A6B8"/>
                </a:solidFill>
              </a:rPr>
              <a:t>https://api.isic-archive.com/collections/212/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9125712" y="437083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41A2B"/>
                </a:solidFill>
              </a:rPr>
              <a:t>The dataset is strongly imbalanced; class weighting is used during model training. Dataset images are not included in the public repository.</a:t>
            </a:r>
            <a:endParaRPr lang="en-US" sz="107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 Preparation &amp; Leakage Prevention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Labels are generated from metadata and splits are grouped by lesion ID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PIPELINE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9476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9476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020"/>
                </a:solidFill>
              </a:rPr>
              <a:t>Metadata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Read ISIC metadata and image identifiers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2258568"/>
            <a:ext cx="201168" cy="274320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74720" y="1755648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0" y="19476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03320" y="2011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0" y="19476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020"/>
                </a:solidFill>
              </a:rPr>
              <a:t>Label mapping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3957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Map diagnostic metadata to 8 target classes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16752" y="2258568"/>
            <a:ext cx="201168" cy="274320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9360" y="1755648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92240" y="19476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37960" y="2011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0" y="19476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020"/>
                </a:solidFill>
              </a:rPr>
              <a:t>Grouped split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3957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Stratify while grouping by lesion_id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51392" y="2258568"/>
            <a:ext cx="201168" cy="274320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144000" y="1755648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326880" y="19476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72600" y="2011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75520" y="19476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020"/>
                </a:solidFill>
              </a:rPr>
              <a:t>Artifacts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0" y="23957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Write labels.csv, train.csv, validation.csv, test.csv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529584"/>
            <a:ext cx="10972800" cy="2139696"/>
          </a:xfrm>
          <a:prstGeom prst="roundRect">
            <a:avLst>
              <a:gd name="adj" fmla="val 2564"/>
            </a:avLst>
          </a:prstGeom>
          <a:solidFill>
            <a:srgbClr val="F0F6FA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32688" y="3822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Why group by lesion_id?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" y="4315968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1A2B"/>
                </a:solidFill>
              </a:rPr>
              <a:t>The split keeps images from the same lesion together. This reduces the risk that near-duplicate views of one lesion appear in both training and evaluation sets.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76288" y="38404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22008" y="39044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Train 71.42%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384048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E9ECFF"/>
          </a:solidFill>
          <a:ln w="12700">
            <a:solidFill>
              <a:srgbClr val="E9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412480" y="39044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Validation 14.28%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85832" y="384048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7F0E3"/>
          </a:solidFill>
          <a:ln w="12700">
            <a:solidFill>
              <a:srgbClr val="F7F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131552" y="39044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8A16"/>
                </a:solidFill>
              </a:rPr>
              <a:t>Test 14.29%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76288" y="453542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41A2B"/>
                </a:solidFill>
              </a:rPr>
              <a:t>Train/validation/test lesion-ID intersections were checked and were 0.</a:t>
            </a:r>
            <a:endParaRPr lang="en-US" sz="11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From dermoscopic image to class prediction and explanation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END-TO-END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224×224 RGB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image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203704" y="2441448"/>
            <a:ext cx="182880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2316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Resize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model pipeline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123944" y="2441448"/>
            <a:ext cx="182880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4340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056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Backbone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9884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D8E2F2"/>
                </a:solidFill>
              </a:rPr>
              <a:t>EfficientNetB0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D8E2F2"/>
                </a:solidFill>
              </a:rPr>
              <a:t>pre-trained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44184" y="2441448"/>
            <a:ext cx="182880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Train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Classifier →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fine-tune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964424" y="2441448"/>
            <a:ext cx="182880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18388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32104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Predict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3932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8-class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probabilities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884664" y="2441448"/>
            <a:ext cx="182880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104120" y="187452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2EC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241280" y="2084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Explain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59568" y="2523744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Grad-CAM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5E6B82"/>
                </a:solidFill>
              </a:rPr>
              <a:t>attribution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58368" y="3931920"/>
            <a:ext cx="1078992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5097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Training strategy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401568" y="416966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47288" y="42336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Class weighting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74336" y="4169664"/>
            <a:ext cx="1719072" cy="310896"/>
          </a:xfrm>
          <a:prstGeom prst="roundRect">
            <a:avLst>
              <a:gd name="adj" fmla="val 14706"/>
            </a:avLst>
          </a:prstGeom>
          <a:solidFill>
            <a:srgbClr val="E9ECFF"/>
          </a:solidFill>
          <a:ln w="12700">
            <a:solidFill>
              <a:srgbClr val="E9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0056" y="4233672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Low LR fine-tuning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39712" y="416966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2ECFF"/>
          </a:solidFill>
          <a:ln w="12700">
            <a:solidFill>
              <a:srgbClr val="F2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85432" y="423367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5CFF"/>
                </a:solidFill>
              </a:rPr>
              <a:t>BatchNorm frozen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58784" y="4169664"/>
            <a:ext cx="1719072" cy="310896"/>
          </a:xfrm>
          <a:prstGeom prst="roundRect">
            <a:avLst>
              <a:gd name="adj" fmla="val 14706"/>
            </a:avLst>
          </a:prstGeom>
          <a:solidFill>
            <a:srgbClr val="F7F0E3"/>
          </a:solidFill>
          <a:ln w="12700">
            <a:solidFill>
              <a:srgbClr val="F7F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604504" y="4233672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8A16"/>
                </a:solidFill>
              </a:rPr>
              <a:t>Best validation loss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0976" y="4709160"/>
            <a:ext cx="9802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E6B82"/>
                </a:solidFill>
              </a:rPr>
              <a:t>The final checkpoint is selected using validation performance; the held-out test set is used for final reporting.</a:t>
            </a:r>
            <a:endParaRPr lang="en-US" sz="113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Baseline: Custom CNN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A compact convolutional network establishes a reference point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BASELINE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6355080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7824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2688" y="2404872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69848" y="247802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Conv 32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28600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BN + Pool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932688" y="2852928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69848" y="29260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Conv 64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286000" y="29260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BN + Pool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32688" y="3300984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69848" y="33741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Conv 128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286000" y="33741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BN + Pool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932688" y="3749040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69848" y="382219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Conv 256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286000" y="38221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BN + Pool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32688" y="4197096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69848" y="42702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GAP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286000" y="42702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Dropout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32688" y="4645152"/>
            <a:ext cx="301752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69848" y="47183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Dense 128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286000" y="471830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Dropout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32688" y="5093208"/>
            <a:ext cx="3840480" cy="320040"/>
          </a:xfrm>
          <a:prstGeom prst="roundRect">
            <a:avLst/>
          </a:prstGeom>
          <a:solidFill>
            <a:srgbClr val="E6F6F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69848" y="51663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1020"/>
                </a:solidFill>
              </a:rPr>
              <a:t>Softmax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2286000" y="516636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5E6B82"/>
                </a:solidFill>
              </a:rPr>
              <a:t>8 classes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370832" y="188366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6B8"/>
                </a:solidFill>
              </a:rPr>
              <a:t>424,264 parameters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05472" y="1719072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205472" y="1719072"/>
            <a:ext cx="73152" cy="1024128"/>
          </a:xfrm>
          <a:prstGeom prst="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406640" y="1892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70.45%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406640" y="23317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Accuracy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73184" y="1719072"/>
            <a:ext cx="208483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473184" y="1719072"/>
            <a:ext cx="73152" cy="1024128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674352" y="189280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69.65%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74352" y="2331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05472" y="292608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205472" y="2926080"/>
            <a:ext cx="73152" cy="1024128"/>
          </a:xfrm>
          <a:prstGeom prst="rect">
            <a:avLst/>
          </a:prstGeom>
          <a:solidFill>
            <a:srgbClr val="7D5CFF"/>
          </a:solidFill>
          <a:ln w="12700">
            <a:solidFill>
              <a:srgbClr val="7D5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06640" y="30998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41.59%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406640" y="35387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Macro F1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73184" y="2926080"/>
            <a:ext cx="208483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473184" y="2926080"/>
            <a:ext cx="73152" cy="1024128"/>
          </a:xfrm>
          <a:prstGeom prst="rect">
            <a:avLst/>
          </a:prstGeom>
          <a:solidFill>
            <a:srgbClr val="D88A16"/>
          </a:solidFill>
          <a:ln w="12700">
            <a:solidFill>
              <a:srgbClr val="D88A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674352" y="309981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nv class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674352" y="353872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Main observation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05472" y="4114800"/>
            <a:ext cx="4343400" cy="1764792"/>
          </a:xfrm>
          <a:prstGeom prst="roundRect">
            <a:avLst>
              <a:gd name="adj" fmla="val 3109"/>
            </a:avLst>
          </a:prstGeom>
          <a:solidFill>
            <a:srgbClr val="F8FAFD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498080" y="4370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020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498080" y="4773168"/>
            <a:ext cx="3639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1A2B"/>
                </a:solidFill>
              </a:rPr>
              <a:t>The custom CNN provides a clear baseline for judging whether transfer learning improves generalization across the eight classes.</a:t>
            </a:r>
            <a:endParaRPr lang="en-US" sz="12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Final Model: EfficientNetB0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Transfer learning + fine-tuning improves the overall classification result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FINAL MODEL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4572000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9536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Training stages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89888" y="2395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020"/>
                </a:solidFill>
              </a:rPr>
              <a:t>Pre-trained backbone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89888" y="2697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E6B82"/>
                </a:solidFill>
              </a:rPr>
              <a:t>Use EfficientNetB0 feature extractor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68680" y="31638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22783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89888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020"/>
                </a:solidFill>
              </a:rPr>
              <a:t>Classification head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389888" y="34564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E6B82"/>
                </a:solidFill>
              </a:rPr>
              <a:t>Train the 8-class output layer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68680" y="3922776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98678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89888" y="3913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020"/>
                </a:solidFill>
              </a:rPr>
              <a:t>Fine-tuning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389888" y="42153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E6B82"/>
                </a:solidFill>
              </a:rPr>
              <a:t>Unfreeze selected upper layers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68680" y="4681728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7457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89888" y="46725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020"/>
                </a:solidFill>
              </a:rPr>
              <a:t>Best checkpoint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389888" y="497433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E6B82"/>
                </a:solidFill>
              </a:rPr>
              <a:t>Keep the lowest validation loss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394960" y="1572768"/>
            <a:ext cx="6144768" cy="1938528"/>
          </a:xfrm>
          <a:prstGeom prst="roundRect">
            <a:avLst>
              <a:gd name="adj" fmla="val 2830"/>
            </a:avLst>
          </a:prstGeom>
          <a:solidFill>
            <a:srgbClr val="0B1020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7150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6CF"/>
                </a:solidFill>
              </a:rPr>
              <a:t>Final checkpoint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2258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efficientnet_b0_finetuned_best.keras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15000" y="28620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C6D2E4"/>
                </a:solidFill>
              </a:rPr>
              <a:t>Fine-tuning learning rate: 1e-5  •  Batch size: 16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394960" y="380390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94960" y="3803904"/>
            <a:ext cx="73152" cy="1024128"/>
          </a:xfrm>
          <a:prstGeom prst="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96128" y="3977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75.34%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596128" y="4416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Test accuracy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380390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452360" y="3803904"/>
            <a:ext cx="73152" cy="1024128"/>
          </a:xfrm>
          <a:prstGeom prst="rect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53528" y="3977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76.25%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653528" y="4416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09760" y="3803904"/>
            <a:ext cx="202996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509760" y="3803904"/>
            <a:ext cx="73152" cy="1024128"/>
          </a:xfrm>
          <a:prstGeom prst="rect">
            <a:avLst/>
          </a:prstGeom>
          <a:solidFill>
            <a:srgbClr val="7D5CFF"/>
          </a:solidFill>
          <a:ln w="12700">
            <a:solidFill>
              <a:srgbClr val="7D5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710928" y="39776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52.70%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710928" y="44165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82"/>
                </a:solidFill>
              </a:rPr>
              <a:t>Macro F1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13248" y="51206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i="1" dirty="0">
                <a:solidFill>
                  <a:srgbClr val="5E6B82"/>
                </a:solidFill>
              </a:rPr>
              <a:t>The final model is locked for reporting; further tuning should be driven by validation data rather than the test set.</a:t>
            </a:r>
            <a:endParaRPr lang="en-US" sz="113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Results: 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The fine-tuned EfficientNetB0 raises both overall and macro-averaged performance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RESULTS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6492240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868680" y="1901952"/>
          <a:ext cx="58978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242048" y="1536192"/>
            <a:ext cx="4315968" cy="4443984"/>
          </a:xfrm>
          <a:prstGeom prst="roundRect">
            <a:avLst>
              <a:gd name="adj" fmla="val 1271"/>
            </a:avLst>
          </a:prstGeom>
          <a:solidFill>
            <a:srgbClr val="F0F6FA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62088" y="1892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What changed?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571232" y="2542032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54112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Accuracy: +4.89 percentage points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7571232" y="3090672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54112" y="30175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Weighted F1: +6.60 percentage points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7571232" y="3639312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754112" y="3566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Macro F1: +11.11 percentage points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7571232" y="4187952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54112" y="4114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The macro F1 gain shows improvement across classes, not only the majority class.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>
            <a:off x="7571232" y="504748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E8EC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616952" y="51114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Final model = EfficientNetB0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Class-Wise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F1-score varies across classes, reflecting the dataset imbalance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PER-CLASS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1572768"/>
            <a:ext cx="66294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822960" y="1920240"/>
          <a:ext cx="59893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424928" y="1572768"/>
            <a:ext cx="4133088" cy="4480560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44968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Reading the result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54112" y="2505456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936992" y="24323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1A2B"/>
                </a:solidFill>
              </a:rPr>
              <a:t>`nv` performs strongly (F1 = 0.88) and has by far the most training examples.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54112" y="305409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36992" y="29809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1A2B"/>
                </a:solidFill>
              </a:rPr>
              <a:t>Several minority classes remain difficult, especially `scc` (F1 = 0.21).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54112" y="360273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936992" y="352958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1A2B"/>
                </a:solidFill>
              </a:rPr>
              <a:t>This is why macro F1 (52.70%) is materially lower than weighted F1 (76.25%).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54112" y="5047488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i="1" dirty="0">
                <a:solidFill>
                  <a:srgbClr val="5E6B82"/>
                </a:solidFill>
              </a:rPr>
              <a:t>F1 balances precision and recall; macro F1 treats all classes equally.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Explainability with Grad-CAM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Visualizing which image regions contribute more strongly to a selected prediction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EXPLAINABILITY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2249424" cy="24231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Original image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2304288"/>
            <a:ext cx="1517904" cy="1188720"/>
          </a:xfrm>
          <a:prstGeom prst="roundRect">
            <a:avLst/>
          </a:prstGeom>
          <a:solidFill>
            <a:srgbClr val="DCE7F0"/>
          </a:solidFill>
          <a:ln w="12700">
            <a:solidFill>
              <a:srgbClr val="D6DD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35024" y="2505456"/>
            <a:ext cx="896112" cy="694944"/>
          </a:xfrm>
          <a:prstGeom prst="ellipse">
            <a:avLst/>
          </a:prstGeom>
          <a:solidFill>
            <a:srgbClr val="B56D46">
              <a:alpha val="90000"/>
            </a:srgbClr>
          </a:solidFill>
          <a:ln w="12700">
            <a:solidFill>
              <a:srgbClr val="A75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706624"/>
            <a:ext cx="292608" cy="201168"/>
          </a:xfrm>
          <a:prstGeom prst="ellipse">
            <a:avLst/>
          </a:prstGeom>
          <a:solidFill>
            <a:srgbClr val="6C3B31"/>
          </a:solidFill>
          <a:ln w="12700">
            <a:solidFill>
              <a:srgbClr val="6C3B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77824" y="363931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6B82"/>
                </a:solidFill>
              </a:rPr>
              <a:t>Input dermoscopic image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249424" cy="24231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64992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Heatmap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304288"/>
            <a:ext cx="1517904" cy="1188720"/>
          </a:xfrm>
          <a:prstGeom prst="roundRect">
            <a:avLst/>
          </a:prstGeom>
          <a:solidFill>
            <a:srgbClr val="E8ECFF"/>
          </a:solidFill>
          <a:ln w="12700">
            <a:solidFill>
              <a:srgbClr val="D6DD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77056" y="2505456"/>
            <a:ext cx="896112" cy="694944"/>
          </a:xfrm>
          <a:prstGeom prst="ellipse">
            <a:avLst/>
          </a:prstGeom>
          <a:solidFill>
            <a:srgbClr val="C9A84A">
              <a:alpha val="90000"/>
            </a:srgbClr>
          </a:solidFill>
          <a:ln w="12700">
            <a:solidFill>
              <a:srgbClr val="B88F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96512" y="2706624"/>
            <a:ext cx="292608" cy="201168"/>
          </a:xfrm>
          <a:prstGeom prst="ellipse">
            <a:avLst/>
          </a:prstGeom>
          <a:solidFill>
            <a:srgbClr val="6C3B31"/>
          </a:solidFill>
          <a:ln w="12700">
            <a:solidFill>
              <a:srgbClr val="6C3B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49040" y="2359152"/>
            <a:ext cx="1170432" cy="1024128"/>
          </a:xfrm>
          <a:prstGeom prst="ellipse">
            <a:avLst/>
          </a:prstGeom>
          <a:solidFill>
            <a:srgbClr val="F2B84B">
              <a:alpha val="38000"/>
            </a:srgbClr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19856" y="363931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6B82"/>
                </a:solidFill>
              </a:rPr>
              <a:t>Gradient-based attribution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742432" y="1691640"/>
            <a:ext cx="2249424" cy="24231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07024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Overlay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08192" y="2304288"/>
            <a:ext cx="1517904" cy="1188720"/>
          </a:xfrm>
          <a:prstGeom prst="roundRect">
            <a:avLst/>
          </a:prstGeom>
          <a:solidFill>
            <a:srgbClr val="E6F6F8"/>
          </a:solidFill>
          <a:ln w="12700">
            <a:solidFill>
              <a:srgbClr val="D6DD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19088" y="2505456"/>
            <a:ext cx="896112" cy="694944"/>
          </a:xfrm>
          <a:prstGeom prst="ellipse">
            <a:avLst/>
          </a:prstGeom>
          <a:solidFill>
            <a:srgbClr val="C77C55">
              <a:alpha val="90000"/>
            </a:srgbClr>
          </a:solidFill>
          <a:ln w="12700">
            <a:solidFill>
              <a:srgbClr val="A95E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38544" y="2706624"/>
            <a:ext cx="292608" cy="201168"/>
          </a:xfrm>
          <a:prstGeom prst="ellipse">
            <a:avLst/>
          </a:prstGeom>
          <a:solidFill>
            <a:srgbClr val="6C3B31"/>
          </a:solidFill>
          <a:ln w="12700">
            <a:solidFill>
              <a:srgbClr val="6C3B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91072" y="2359152"/>
            <a:ext cx="1170432" cy="1024128"/>
          </a:xfrm>
          <a:prstGeom prst="ellipse">
            <a:avLst/>
          </a:prstGeom>
          <a:solidFill>
            <a:srgbClr val="F27C4A">
              <a:alpha val="42000"/>
            </a:srgbClr>
          </a:solidFill>
          <a:ln w="12700">
            <a:solidFill>
              <a:srgbClr val="F27C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61888" y="363931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6B82"/>
                </a:solidFill>
              </a:rPr>
              <a:t>Attribution on input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926080" y="2578608"/>
            <a:ext cx="256032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68112" y="2578608"/>
            <a:ext cx="256032" cy="310896"/>
          </a:xfrm>
          <a:prstGeom prst="chevron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11312" y="1691640"/>
            <a:ext cx="3364992" cy="2423160"/>
          </a:xfrm>
          <a:prstGeom prst="roundRect">
            <a:avLst>
              <a:gd name="adj" fmla="val 2264"/>
            </a:avLst>
          </a:prstGeom>
          <a:solidFill>
            <a:srgbClr val="0B1020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85632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85632" y="246888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6ECF7"/>
                </a:solidFill>
              </a:rPr>
              <a:t>Grad-CAM shows image regions with greater attribution to the selected model prediction.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85632" y="341985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A8D9DE"/>
                </a:solidFill>
              </a:rPr>
              <a:t>It is model attribution — not clinical reasoning.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658368" y="4462272"/>
            <a:ext cx="10917936" cy="1243584"/>
          </a:xfrm>
          <a:prstGeom prst="roundRect">
            <a:avLst>
              <a:gd name="adj" fmla="val 4412"/>
            </a:avLst>
          </a:prstGeom>
          <a:solidFill>
            <a:srgbClr val="F8FAFD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50976" y="4736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432304" y="4663440"/>
            <a:ext cx="1792224" cy="310896"/>
          </a:xfrm>
          <a:prstGeom prst="roundRect">
            <a:avLst>
              <a:gd name="adj" fmla="val 14706"/>
            </a:avLst>
          </a:prstGeom>
          <a:solidFill>
            <a:srgbClr val="E9ECFF"/>
          </a:solidFill>
          <a:ln w="12700">
            <a:solidFill>
              <a:srgbClr val="E9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78024" y="47274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Target layer: top_conv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4663440"/>
            <a:ext cx="1700784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434840" y="472744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Predicted class score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54496" y="466344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2ECFF"/>
          </a:solidFill>
          <a:ln w="12700">
            <a:solidFill>
              <a:srgbClr val="F2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00216" y="4727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5CFF"/>
                </a:solidFill>
              </a:rPr>
              <a:t>Heatmap → overlay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73568" y="4645152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E6B82"/>
                </a:solidFill>
              </a:rPr>
              <a:t>The Streamlit app uses the same final model and Grad-CAM utilities for inference and visualization.</a:t>
            </a:r>
            <a:endParaRPr lang="en-US" sz="108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Interactive Web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A Streamlit front end turns the trained model into a practical demo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DEMO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85216" y="1572768"/>
            <a:ext cx="6510528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6968" y="1883664"/>
            <a:ext cx="5907024" cy="36027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4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83664"/>
            <a:ext cx="5907024" cy="384048"/>
          </a:xfrm>
          <a:prstGeom prst="rect">
            <a:avLst/>
          </a:prstGeom>
          <a:solidFill>
            <a:srgbClr val="F0F3F8"/>
          </a:solidFill>
          <a:ln w="12700">
            <a:solidFill>
              <a:srgbClr val="F0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42416" y="2002536"/>
            <a:ext cx="82296" cy="82296"/>
          </a:xfrm>
          <a:prstGeom prst="ellipse">
            <a:avLst/>
          </a:prstGeom>
          <a:solidFill>
            <a:srgbClr val="D5DDE9"/>
          </a:solidFill>
          <a:ln w="12700">
            <a:solidFill>
              <a:srgbClr val="D5DD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25296" y="2002536"/>
            <a:ext cx="82296" cy="82296"/>
          </a:xfrm>
          <a:prstGeom prst="ellipse">
            <a:avLst/>
          </a:prstGeom>
          <a:solidFill>
            <a:srgbClr val="D5DDE9"/>
          </a:solidFill>
          <a:ln w="12700">
            <a:solidFill>
              <a:srgbClr val="D5DD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408176" y="2002536"/>
            <a:ext cx="82296" cy="82296"/>
          </a:xfrm>
          <a:prstGeom prst="ellipse">
            <a:avLst/>
          </a:prstGeom>
          <a:solidFill>
            <a:srgbClr val="D5DDE9"/>
          </a:solidFill>
          <a:ln w="12700">
            <a:solidFill>
              <a:srgbClr val="D5DD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020"/>
                </a:solidFill>
              </a:rPr>
              <a:t>Skin Lesion Classification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261872" y="25237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</a:rPr>
              <a:t>Upload image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61872" y="2907792"/>
            <a:ext cx="1993392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44752" y="31089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E6B82"/>
                </a:solidFill>
              </a:rPr>
              <a:t>Choose an image…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803904" y="2523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</a:rPr>
              <a:t>Prediction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22192" y="290779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A6B8"/>
                </a:solidFill>
              </a:rPr>
              <a:t>nv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822192" y="3364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E6B82"/>
                </a:solidFill>
              </a:rPr>
              <a:t>98.1% confidence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822192" y="38587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41A2B"/>
                </a:solidFill>
              </a:rPr>
              <a:t>nv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15968" y="3877056"/>
            <a:ext cx="1325880" cy="13716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EAE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15968" y="3877056"/>
            <a:ext cx="1299362" cy="137160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42432" y="3840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6B82"/>
                </a:solidFill>
              </a:rPr>
              <a:t>98%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822192" y="4169664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41A2B"/>
                </a:solidFill>
              </a:rPr>
              <a:t>mel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315968" y="4187952"/>
            <a:ext cx="1325880" cy="13716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EAE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15968" y="4187952"/>
            <a:ext cx="7955" cy="137160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42432" y="41513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6B82"/>
                </a:solidFill>
              </a:rPr>
              <a:t>0.6%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822192" y="448056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41A2B"/>
                </a:solidFill>
              </a:rPr>
              <a:t>bcc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315968" y="4498848"/>
            <a:ext cx="1325880" cy="13716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EAE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315968" y="4498848"/>
            <a:ext cx="5304" cy="137160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742432" y="446227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6B82"/>
                </a:solidFill>
              </a:rPr>
              <a:t>0.4%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822192" y="479145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41A2B"/>
                </a:solidFill>
              </a:rPr>
              <a:t>bkl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315968" y="4809744"/>
            <a:ext cx="1325880" cy="13716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EAE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315968" y="4809744"/>
            <a:ext cx="3978" cy="137160"/>
          </a:xfrm>
          <a:prstGeom prst="roundRect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742432" y="4773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6B82"/>
                </a:solidFill>
              </a:rPr>
              <a:t>0.3%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261872" y="50474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E6B82"/>
                </a:solidFill>
              </a:rPr>
              <a:t>Top-3 predictions • All 8 probabilities • Grad-CAM</a:t>
            </a:r>
            <a:endParaRPr lang="en-US" sz="990" dirty="0"/>
          </a:p>
        </p:txBody>
      </p:sp>
      <p:sp>
        <p:nvSpPr>
          <p:cNvPr id="36" name="Shape 34"/>
          <p:cNvSpPr/>
          <p:nvPr/>
        </p:nvSpPr>
        <p:spPr>
          <a:xfrm>
            <a:off x="7333488" y="1572768"/>
            <a:ext cx="4224528" cy="4462272"/>
          </a:xfrm>
          <a:prstGeom prst="roundRect">
            <a:avLst>
              <a:gd name="adj" fmla="val 1299"/>
            </a:avLst>
          </a:prstGeom>
          <a:solidFill>
            <a:srgbClr val="F0F6FA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62672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Demo flow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680960" y="2468880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863840" y="239572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Upload a dermoscopic image.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7680960" y="301752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863840" y="294436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Run the final EfficientNetB0 checkpoint.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7680960" y="356616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863840" y="349300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Show predicted class + confidence.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7680960" y="411480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63840" y="404164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Inspect all class probabilities and top-3.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7680960" y="466344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63840" y="459028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Generate a Grad-CAM visualization.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7680960" y="5212080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863840" y="513892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Use the disclaimer for research / educational use.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680960" y="5285232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E9ECFF"/>
          </a:solidFill>
          <a:ln w="12700">
            <a:solidFill>
              <a:srgbClr val="E9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726680" y="534924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CFF"/>
                </a:solidFill>
              </a:rPr>
              <a:t>streamlit run app/app.py</a:t>
            </a:r>
            <a:endParaRPr lang="en-US" sz="9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Limitations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What the current project demonstrates — and what would be needed next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NEXT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5349240" cy="4407408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7824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6112" y="2505456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78992" y="24323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Strong class imbalance and lower performance for several minority classes.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896112" y="305409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78992" y="298094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Dataset-specific training means generalization to other sources is not established.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96112" y="360273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78992" y="35295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No clinical validation has been performed.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896112" y="415137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78992" y="40782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41A2B"/>
                </a:solidFill>
              </a:rPr>
              <a:t>Grad-CAM provides attribution, not clinical explanation.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6199632" y="1591056"/>
            <a:ext cx="5349240" cy="4407408"/>
          </a:xfrm>
          <a:prstGeom prst="roundRect">
            <a:avLst>
              <a:gd name="adj" fmla="val 1245"/>
            </a:avLst>
          </a:prstGeom>
          <a:solidFill>
            <a:srgbClr val="F0F6FA"/>
          </a:solidFill>
          <a:ln w="12700">
            <a:solidFill>
              <a:srgbClr val="DCE2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1052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28816" y="2505456"/>
            <a:ext cx="91440" cy="91440"/>
          </a:xfrm>
          <a:prstGeom prst="ellipse">
            <a:avLst/>
          </a:prstGeom>
          <a:solidFill>
            <a:srgbClr val="16A6B8"/>
          </a:solidFill>
          <a:ln w="12700">
            <a:solidFill>
              <a:srgbClr val="16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11696" y="24323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41A2B"/>
                </a:solidFill>
              </a:rPr>
              <a:t>Larger and more diverse datasets.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528816" y="305409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11696" y="298094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41A2B"/>
                </a:solidFill>
              </a:rPr>
              <a:t>Improved minority-class handling and calibration.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528816" y="360273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11696" y="35295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41A2B"/>
                </a:solidFill>
              </a:rPr>
              <a:t>External-dataset validation and broader generalization testing.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528816" y="415137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11696" y="40782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41A2B"/>
                </a:solidFill>
              </a:rPr>
              <a:t>Additional explainability methods and more efficient deployment.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6528816" y="4700016"/>
            <a:ext cx="91440" cy="91440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11696" y="462686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41A2B"/>
                </a:solidFill>
              </a:rPr>
              <a:t>Domain-expert collaboration before any clinical use.</a:t>
            </a:r>
            <a:endParaRPr lang="en-US" sz="12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Key takeaways from the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TAKEAWAYS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3504" y="1572768"/>
            <a:ext cx="1097280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1847088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78408" y="191109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36192" y="186537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41A2B"/>
                </a:solidFill>
              </a:rPr>
              <a:t>Defined an eight-class dermoscopic lesion classification task from current ISIC HAM10000 metadata.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932688" y="2377440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78408" y="24414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36192" y="239572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41A2B"/>
                </a:solidFill>
              </a:rPr>
              <a:t>Used lesion-level grouped splitting to reduce leakage between train, validation and test sets.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32688" y="2907792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78408" y="297180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36192" y="29260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41A2B"/>
                </a:solidFill>
              </a:rPr>
              <a:t>Compared a custom CNN baseline with EfficientNetB0 transfer learning and fine-tuning.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932688" y="3438144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78408" y="35021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36192" y="34564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41A2B"/>
                </a:solidFill>
              </a:rPr>
              <a:t>Achieved 75.34% test accuracy and 76.25% weighted F1 with the final EfficientNetB0 model.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932688" y="3968496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8408" y="403250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36192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41A2B"/>
                </a:solidFill>
              </a:rPr>
              <a:t>Added Grad-CAM and a Streamlit interface for model attribution and interactive demonstration.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603504" y="5175504"/>
            <a:ext cx="10972800" cy="65836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10314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Research / Educational Use Only — not a medical diagnostic tool.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03504" y="599846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 •  Questions?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82"/>
                </a:solidFill>
              </a:rPr>
              <a:t>Key sources used for the dataset, model and explainability components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7784" y="11430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6B8"/>
                </a:solidFill>
              </a:rPr>
              <a:t>REFERENCES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0972800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blurRad="25400" dist="50800" dir="2700000" algn="bl" rotWithShape="0">
              <a:srgbClr val="B9C4D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9751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44752" y="193852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Tschandl, P., Rosendahl, C., &amp; Kittler, H. (2018). The HAM10000 dataset. Scientific Data, 5, 180161.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14400" y="2642616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2606040"/>
            <a:ext cx="983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dirty="0">
                <a:solidFill>
                  <a:srgbClr val="141A2B"/>
                </a:solidFill>
              </a:rPr>
              <a:t>H. Erbay, Y. M. </a:t>
            </a:r>
            <a:r>
              <a:rPr lang="en-US" sz="1200" dirty="0" err="1">
                <a:solidFill>
                  <a:srgbClr val="141A2B"/>
                </a:solidFill>
              </a:rPr>
              <a:t>Abulgasim</a:t>
            </a:r>
            <a:r>
              <a:rPr lang="en-US" sz="1200" dirty="0">
                <a:solidFill>
                  <a:srgbClr val="141A2B"/>
                </a:solidFill>
              </a:rPr>
              <a:t>, D. E. Özer, and F. Ertürk, “Enhancing multi-class skin lesion diagnosis through ensemble learning of CNN and transformer architectures,” Engineering Science and Technology, an International Journal, vol. 70, Oct. 2025, Art. no. 102145. </a:t>
            </a:r>
            <a:r>
              <a:rPr lang="en-US" sz="1200" dirty="0" err="1">
                <a:solidFill>
                  <a:srgbClr val="141A2B"/>
                </a:solidFill>
              </a:rPr>
              <a:t>doi</a:t>
            </a:r>
            <a:r>
              <a:rPr lang="en-US" sz="1200" dirty="0">
                <a:solidFill>
                  <a:srgbClr val="141A2B"/>
                </a:solidFill>
              </a:rPr>
              <a:t>: 10.1016/j.jestch.2025.102145.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10128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33741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4752" y="3273552"/>
            <a:ext cx="978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41A2B"/>
                </a:solidFill>
              </a:rPr>
              <a:t>M. Tan and Q. V. Le, “</a:t>
            </a:r>
            <a:r>
              <a:rPr lang="en-US" sz="1220" dirty="0" err="1">
                <a:solidFill>
                  <a:srgbClr val="141A2B"/>
                </a:solidFill>
              </a:rPr>
              <a:t>EfficientNet</a:t>
            </a:r>
            <a:r>
              <a:rPr lang="en-US" sz="1220" dirty="0">
                <a:solidFill>
                  <a:srgbClr val="141A2B"/>
                </a:solidFill>
              </a:rPr>
              <a:t>: Rethinking Model Scaling for Convolutional Neural Networks,” Proceedings of the 36th International Conference on Machine Learning, PMLR, vol. 97, pp. 6105–6114, 2019.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14400" y="3977640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404164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394106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1A2B"/>
                </a:solidFill>
              </a:rPr>
              <a:t>Selvaraju, R. R., et al. (2017). Grad-CAM: Visual Explanations from Deep Networks via Gradient-Based Localization. ICCV.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4645152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0120" y="470916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44752" y="4608576"/>
            <a:ext cx="978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41A2B"/>
                </a:solidFill>
              </a:rPr>
              <a:t>Z. Hu, W. Mei, H. Chen, and W. Hou, “Multi-scale feature fusion and class weight loss for skin lesion classification,” Computers in Biology and Medicine, vol. 176, Jun. 2024, Art. no. 108594. </a:t>
            </a:r>
            <a:r>
              <a:rPr lang="en-US" sz="1220" dirty="0" err="1">
                <a:solidFill>
                  <a:srgbClr val="141A2B"/>
                </a:solidFill>
              </a:rPr>
              <a:t>doi</a:t>
            </a:r>
            <a:r>
              <a:rPr lang="en-US" sz="1220" dirty="0">
                <a:solidFill>
                  <a:srgbClr val="141A2B"/>
                </a:solidFill>
              </a:rPr>
              <a:t>: 10.1016/j.compbiomed.2024.108594.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14400" y="54681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6A6B8"/>
                </a:solidFill>
              </a:rPr>
              <a:t>Repository: https://github.com/nabilkhan-01/Skin-Lesion-Classification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DDE4F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1492</Words>
  <Application>Microsoft Office PowerPoint</Application>
  <PresentationFormat>Widescreen</PresentationFormat>
  <Paragraphs>314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Sahyadri College of Engineering and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Lesion Classification Using CNNs</dc:title>
  <dc:subject>Skin Lesion Classification Using CNNs</dc:subject>
  <dc:creator>Nabil Ahmad Khan</dc:creator>
  <cp:lastModifiedBy>Nabil Khan</cp:lastModifiedBy>
  <cp:revision>4</cp:revision>
  <dcterms:created xsi:type="dcterms:W3CDTF">2026-09-22T15:50:48Z</dcterms:created>
  <dcterms:modified xsi:type="dcterms:W3CDTF">2026-09-22T16:47:35Z</dcterms:modified>
</cp:coreProperties>
</file>